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1"/>
  </p:sldMasterIdLst>
  <p:notesMasterIdLst>
    <p:notesMasterId r:id="rId14"/>
  </p:notesMasterIdLst>
  <p:sldIdLst>
    <p:sldId id="256" r:id="rId2"/>
    <p:sldId id="267" r:id="rId3"/>
    <p:sldId id="257" r:id="rId4"/>
    <p:sldId id="259" r:id="rId5"/>
    <p:sldId id="258" r:id="rId6"/>
    <p:sldId id="260" r:id="rId7"/>
    <p:sldId id="264" r:id="rId8"/>
    <p:sldId id="265" r:id="rId9"/>
    <p:sldId id="261" r:id="rId10"/>
    <p:sldId id="266" r:id="rId11"/>
    <p:sldId id="262" r:id="rId12"/>
    <p:sldId id="26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56" autoAdjust="0"/>
    <p:restoredTop sz="60189" autoAdjust="0"/>
  </p:normalViewPr>
  <p:slideViewPr>
    <p:cSldViewPr snapToGrid="0">
      <p:cViewPr varScale="1">
        <p:scale>
          <a:sx n="39" d="100"/>
          <a:sy n="39" d="100"/>
        </p:scale>
        <p:origin x="1836" y="42"/>
      </p:cViewPr>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Lst>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8.xml"/><Relationship Id="rId3" Type="http://schemas.openxmlformats.org/officeDocument/2006/relationships/slide" Target="slides/slide3.xml"/><Relationship Id="rId7" Type="http://schemas.openxmlformats.org/officeDocument/2006/relationships/slide" Target="slides/slide7.xml"/><Relationship Id="rId12" Type="http://schemas.openxmlformats.org/officeDocument/2006/relationships/slide" Target="slides/slide12.xml"/><Relationship Id="rId2" Type="http://schemas.openxmlformats.org/officeDocument/2006/relationships/slide" Target="slides/slide2.xml"/><Relationship Id="rId1" Type="http://schemas.openxmlformats.org/officeDocument/2006/relationships/slide" Target="slides/slide1.xml"/><Relationship Id="rId6" Type="http://schemas.openxmlformats.org/officeDocument/2006/relationships/slide" Target="slides/slide6.xml"/><Relationship Id="rId11" Type="http://schemas.openxmlformats.org/officeDocument/2006/relationships/slide" Target="slides/slide11.xml"/><Relationship Id="rId5" Type="http://schemas.openxmlformats.org/officeDocument/2006/relationships/slide" Target="slides/slide5.xml"/><Relationship Id="rId10" Type="http://schemas.openxmlformats.org/officeDocument/2006/relationships/slide" Target="slides/slide10.xml"/><Relationship Id="rId4" Type="http://schemas.openxmlformats.org/officeDocument/2006/relationships/slide" Target="slides/slide4.xml"/><Relationship Id="rId9"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8ADC51-9165-484D-B7F6-DAEA984BD06B}" type="datetimeFigureOut">
              <a:rPr kumimoji="1" lang="ja-JP" altLang="en-US" smtClean="0"/>
              <a:t>2026/4/23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FFE2D4-4D0A-4AA6-83CB-8BCCB98C49D6}" type="slidenum">
              <a:rPr kumimoji="1" lang="ja-JP" altLang="en-US" smtClean="0"/>
              <a:t>‹#›</a:t>
            </a:fld>
            <a:endParaRPr kumimoji="1" lang="ja-JP" altLang="en-US"/>
          </a:p>
        </p:txBody>
      </p:sp>
    </p:spTree>
    <p:extLst>
      <p:ext uri="{BB962C8B-B14F-4D97-AF65-F5344CB8AC3E}">
        <p14:creationId xmlns:p14="http://schemas.microsoft.com/office/powerpoint/2010/main" val="27444491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総合制作課題の発表を始めます。</a:t>
            </a:r>
            <a:br>
              <a:rPr kumimoji="1" lang="en-US" altLang="ja-JP" dirty="0"/>
            </a:br>
            <a:r>
              <a:rPr kumimoji="1" lang="ja-JP" altLang="en-US" dirty="0"/>
              <a:t>よろしくお願いします。</a:t>
            </a:r>
          </a:p>
        </p:txBody>
      </p:sp>
      <p:sp>
        <p:nvSpPr>
          <p:cNvPr id="4" name="スライド番号プレースホルダー 3"/>
          <p:cNvSpPr>
            <a:spLocks noGrp="1"/>
          </p:cNvSpPr>
          <p:nvPr>
            <p:ph type="sldNum" sz="quarter" idx="5"/>
          </p:nvPr>
        </p:nvSpPr>
        <p:spPr/>
        <p:txBody>
          <a:bodyPr/>
          <a:lstStyle/>
          <a:p>
            <a:fld id="{E2FFE2D4-4D0A-4AA6-83CB-8BCCB98C49D6}" type="slidenum">
              <a:rPr kumimoji="1" lang="ja-JP" altLang="en-US" smtClean="0"/>
              <a:t>1</a:t>
            </a:fld>
            <a:endParaRPr kumimoji="1" lang="ja-JP" altLang="en-US"/>
          </a:p>
        </p:txBody>
      </p:sp>
    </p:spTree>
    <p:extLst>
      <p:ext uri="{BB962C8B-B14F-4D97-AF65-F5344CB8AC3E}">
        <p14:creationId xmlns:p14="http://schemas.microsoft.com/office/powerpoint/2010/main" val="376971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上記に沿って説明していきます。</a:t>
            </a:r>
          </a:p>
        </p:txBody>
      </p:sp>
      <p:sp>
        <p:nvSpPr>
          <p:cNvPr id="4" name="スライド番号プレースホルダー 3"/>
          <p:cNvSpPr>
            <a:spLocks noGrp="1"/>
          </p:cNvSpPr>
          <p:nvPr>
            <p:ph type="sldNum" sz="quarter" idx="5"/>
          </p:nvPr>
        </p:nvSpPr>
        <p:spPr/>
        <p:txBody>
          <a:bodyPr/>
          <a:lstStyle/>
          <a:p>
            <a:fld id="{E2FFE2D4-4D0A-4AA6-83CB-8BCCB98C49D6}" type="slidenum">
              <a:rPr kumimoji="1" lang="ja-JP" altLang="en-US" smtClean="0"/>
              <a:t>2</a:t>
            </a:fld>
            <a:endParaRPr kumimoji="1" lang="ja-JP" altLang="en-US"/>
          </a:p>
        </p:txBody>
      </p:sp>
    </p:spTree>
    <p:extLst>
      <p:ext uri="{BB962C8B-B14F-4D97-AF65-F5344CB8AC3E}">
        <p14:creationId xmlns:p14="http://schemas.microsoft.com/office/powerpoint/2010/main" val="628501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まず何を作ったか、です。</a:t>
            </a:r>
            <a:br>
              <a:rPr kumimoji="1" lang="en-US" altLang="ja-JP" dirty="0"/>
            </a:br>
            <a:r>
              <a:rPr kumimoji="1" lang="en-US" altLang="ja-JP" dirty="0"/>
              <a:t>Java</a:t>
            </a:r>
            <a:r>
              <a:rPr kumimoji="1" lang="ja-JP" altLang="en-US" dirty="0"/>
              <a:t>を使用して、簡易的な在庫管理のシステムを作成しました。</a:t>
            </a:r>
          </a:p>
        </p:txBody>
      </p:sp>
      <p:sp>
        <p:nvSpPr>
          <p:cNvPr id="4" name="スライド番号プレースホルダー 3"/>
          <p:cNvSpPr>
            <a:spLocks noGrp="1"/>
          </p:cNvSpPr>
          <p:nvPr>
            <p:ph type="sldNum" sz="quarter" idx="5"/>
          </p:nvPr>
        </p:nvSpPr>
        <p:spPr/>
        <p:txBody>
          <a:bodyPr/>
          <a:lstStyle/>
          <a:p>
            <a:fld id="{E2FFE2D4-4D0A-4AA6-83CB-8BCCB98C49D6}" type="slidenum">
              <a:rPr kumimoji="1" lang="ja-JP" altLang="en-US" smtClean="0"/>
              <a:t>3</a:t>
            </a:fld>
            <a:endParaRPr kumimoji="1" lang="ja-JP" altLang="en-US"/>
          </a:p>
        </p:txBody>
      </p:sp>
    </p:spTree>
    <p:extLst>
      <p:ext uri="{BB962C8B-B14F-4D97-AF65-F5344CB8AC3E}">
        <p14:creationId xmlns:p14="http://schemas.microsoft.com/office/powerpoint/2010/main" val="648579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時間も無いので、まずは見てください→実演</a:t>
            </a:r>
          </a:p>
        </p:txBody>
      </p:sp>
      <p:sp>
        <p:nvSpPr>
          <p:cNvPr id="4" name="スライド番号プレースホルダー 3"/>
          <p:cNvSpPr>
            <a:spLocks noGrp="1"/>
          </p:cNvSpPr>
          <p:nvPr>
            <p:ph type="sldNum" sz="quarter" idx="5"/>
          </p:nvPr>
        </p:nvSpPr>
        <p:spPr/>
        <p:txBody>
          <a:bodyPr/>
          <a:lstStyle/>
          <a:p>
            <a:fld id="{E2FFE2D4-4D0A-4AA6-83CB-8BCCB98C49D6}" type="slidenum">
              <a:rPr kumimoji="1" lang="ja-JP" altLang="en-US" smtClean="0"/>
              <a:t>4</a:t>
            </a:fld>
            <a:endParaRPr kumimoji="1" lang="ja-JP" altLang="en-US"/>
          </a:p>
        </p:txBody>
      </p:sp>
    </p:spTree>
    <p:extLst>
      <p:ext uri="{BB962C8B-B14F-4D97-AF65-F5344CB8AC3E}">
        <p14:creationId xmlns:p14="http://schemas.microsoft.com/office/powerpoint/2010/main" val="14831141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ありがとうございます。</a:t>
            </a:r>
            <a:br>
              <a:rPr kumimoji="1" lang="en-US" altLang="ja-JP" dirty="0"/>
            </a:br>
            <a:r>
              <a:rPr kumimoji="1" lang="ja-JP" altLang="en-US" dirty="0"/>
              <a:t>なぜこれを作ろうと思ったか、です。</a:t>
            </a:r>
            <a:br>
              <a:rPr kumimoji="1" lang="en-US" altLang="ja-JP" dirty="0"/>
            </a:br>
            <a:r>
              <a:rPr kumimoji="1" lang="ja-JP" altLang="en-US" dirty="0"/>
              <a:t>まずは</a:t>
            </a:r>
            <a:r>
              <a:rPr kumimoji="1" lang="en-US" altLang="ja-JP" dirty="0"/>
              <a:t>Java</a:t>
            </a:r>
            <a:r>
              <a:rPr kumimoji="1" lang="ja-JP" altLang="en-US" dirty="0"/>
              <a:t>の理解度向上のためですね。</a:t>
            </a:r>
            <a:endParaRPr kumimoji="1" lang="en-US" altLang="ja-JP" dirty="0"/>
          </a:p>
          <a:p>
            <a:r>
              <a:rPr kumimoji="1" lang="ja-JP" altLang="en-US" dirty="0"/>
              <a:t>試験勉強がほとんどだったので、自分で考えてコードを書く経験が薄かったので、そこを補強しようと思いました。</a:t>
            </a:r>
            <a:endParaRPr kumimoji="1" lang="en-US" altLang="ja-JP" dirty="0"/>
          </a:p>
          <a:p>
            <a:r>
              <a:rPr kumimoji="1" lang="ja-JP" altLang="en-US" dirty="0"/>
              <a:t>あとは、石川県は</a:t>
            </a:r>
            <a:r>
              <a:rPr kumimoji="1" lang="en-US" altLang="ja-JP" dirty="0"/>
              <a:t>Java</a:t>
            </a:r>
            <a:r>
              <a:rPr kumimoji="1" lang="ja-JP" altLang="en-US" dirty="0"/>
              <a:t>の案件が多いと聞いたんで慣れておこうと思いました。</a:t>
            </a:r>
            <a:endParaRPr kumimoji="1" lang="en-US" altLang="ja-JP" dirty="0"/>
          </a:p>
          <a:p>
            <a:r>
              <a:rPr kumimoji="1" lang="ja-JP" altLang="en-US" dirty="0"/>
              <a:t>加えて、前職の経験からシステム運用のイメージが湧きやすかったというのも理由のひとつです。</a:t>
            </a:r>
          </a:p>
        </p:txBody>
      </p:sp>
      <p:sp>
        <p:nvSpPr>
          <p:cNvPr id="4" name="スライド番号プレースホルダー 3"/>
          <p:cNvSpPr>
            <a:spLocks noGrp="1"/>
          </p:cNvSpPr>
          <p:nvPr>
            <p:ph type="sldNum" sz="quarter" idx="5"/>
          </p:nvPr>
        </p:nvSpPr>
        <p:spPr/>
        <p:txBody>
          <a:bodyPr/>
          <a:lstStyle/>
          <a:p>
            <a:fld id="{E2FFE2D4-4D0A-4AA6-83CB-8BCCB98C49D6}" type="slidenum">
              <a:rPr kumimoji="1" lang="ja-JP" altLang="en-US" smtClean="0"/>
              <a:t>5</a:t>
            </a:fld>
            <a:endParaRPr kumimoji="1" lang="ja-JP" altLang="en-US"/>
          </a:p>
        </p:txBody>
      </p:sp>
    </p:spTree>
    <p:extLst>
      <p:ext uri="{BB962C8B-B14F-4D97-AF65-F5344CB8AC3E}">
        <p14:creationId xmlns:p14="http://schemas.microsoft.com/office/powerpoint/2010/main" val="3681758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時間無いので機能紹介は割愛していきます。</a:t>
            </a:r>
            <a:br>
              <a:rPr kumimoji="1" lang="en-US" altLang="ja-JP" dirty="0"/>
            </a:br>
            <a:r>
              <a:rPr kumimoji="1" lang="ja-JP" altLang="en-US" dirty="0"/>
              <a:t>大まかな流れと各作業で何ができるのか、というところになっていきます。</a:t>
            </a:r>
          </a:p>
        </p:txBody>
      </p:sp>
      <p:sp>
        <p:nvSpPr>
          <p:cNvPr id="4" name="スライド番号プレースホルダー 3"/>
          <p:cNvSpPr>
            <a:spLocks noGrp="1"/>
          </p:cNvSpPr>
          <p:nvPr>
            <p:ph type="sldNum" sz="quarter" idx="5"/>
          </p:nvPr>
        </p:nvSpPr>
        <p:spPr/>
        <p:txBody>
          <a:bodyPr/>
          <a:lstStyle/>
          <a:p>
            <a:fld id="{E2FFE2D4-4D0A-4AA6-83CB-8BCCB98C49D6}" type="slidenum">
              <a:rPr kumimoji="1" lang="ja-JP" altLang="en-US" smtClean="0"/>
              <a:t>6</a:t>
            </a:fld>
            <a:endParaRPr kumimoji="1" lang="ja-JP" altLang="en-US"/>
          </a:p>
        </p:txBody>
      </p:sp>
    </p:spTree>
    <p:extLst>
      <p:ext uri="{BB962C8B-B14F-4D97-AF65-F5344CB8AC3E}">
        <p14:creationId xmlns:p14="http://schemas.microsoft.com/office/powerpoint/2010/main" val="22897734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システム作成の工夫点です</a:t>
            </a:r>
            <a:br>
              <a:rPr kumimoji="1" lang="en-US" altLang="ja-JP" dirty="0"/>
            </a:br>
            <a:r>
              <a:rPr kumimoji="1" lang="ja-JP" altLang="en-US" dirty="0"/>
              <a:t>まずは</a:t>
            </a:r>
            <a:r>
              <a:rPr kumimoji="1" lang="en-US" altLang="ja-JP" dirty="0"/>
              <a:t>CSV</a:t>
            </a:r>
            <a:r>
              <a:rPr kumimoji="1" lang="ja-JP" altLang="en-US" dirty="0"/>
              <a:t>ファイルでデータを管理することでデータベースの設定を不要にしました。</a:t>
            </a:r>
            <a:endParaRPr kumimoji="1" lang="en-US" altLang="ja-JP" dirty="0"/>
          </a:p>
          <a:p>
            <a:r>
              <a:rPr kumimoji="1" lang="ja-JP" altLang="en-US" dirty="0"/>
              <a:t>例えば店舗や部署ごとのファイルさえあれば共同のプログラムを使用することができます。</a:t>
            </a:r>
            <a:endParaRPr kumimoji="1" lang="en-US" altLang="ja-JP" dirty="0"/>
          </a:p>
          <a:p>
            <a:r>
              <a:rPr kumimoji="1" lang="ja-JP" altLang="en-US" dirty="0"/>
              <a:t>作業の完了後に再び選択画面に戻せるようにしました。</a:t>
            </a:r>
            <a:endParaRPr kumimoji="1" lang="en-US" altLang="ja-JP" dirty="0"/>
          </a:p>
          <a:p>
            <a:r>
              <a:rPr kumimoji="1" lang="ja-JP" altLang="en-US" dirty="0"/>
              <a:t>全ての作業を</a:t>
            </a:r>
            <a:r>
              <a:rPr kumimoji="1" lang="en-US" altLang="ja-JP" dirty="0"/>
              <a:t>1</a:t>
            </a:r>
            <a:r>
              <a:rPr kumimoji="1" lang="ja-JP" altLang="en-US" dirty="0"/>
              <a:t>回の実行で行えるようになっています。</a:t>
            </a:r>
            <a:endParaRPr kumimoji="1" lang="en-US" altLang="ja-JP" dirty="0"/>
          </a:p>
          <a:p>
            <a:r>
              <a:rPr kumimoji="1" lang="ja-JP" altLang="en-US" dirty="0"/>
              <a:t>このシステムの利用目的が在庫管理なので、在庫不足リストを最初に表示してあると作業がスムーズになると考えました。</a:t>
            </a:r>
          </a:p>
        </p:txBody>
      </p:sp>
      <p:sp>
        <p:nvSpPr>
          <p:cNvPr id="4" name="スライド番号プレースホルダー 3"/>
          <p:cNvSpPr>
            <a:spLocks noGrp="1"/>
          </p:cNvSpPr>
          <p:nvPr>
            <p:ph type="sldNum" sz="quarter" idx="5"/>
          </p:nvPr>
        </p:nvSpPr>
        <p:spPr/>
        <p:txBody>
          <a:bodyPr/>
          <a:lstStyle/>
          <a:p>
            <a:fld id="{E2FFE2D4-4D0A-4AA6-83CB-8BCCB98C49D6}" type="slidenum">
              <a:rPr kumimoji="1" lang="ja-JP" altLang="en-US" smtClean="0"/>
              <a:t>9</a:t>
            </a:fld>
            <a:endParaRPr kumimoji="1" lang="ja-JP" altLang="en-US"/>
          </a:p>
        </p:txBody>
      </p:sp>
    </p:spTree>
    <p:extLst>
      <p:ext uri="{BB962C8B-B14F-4D97-AF65-F5344CB8AC3E}">
        <p14:creationId xmlns:p14="http://schemas.microsoft.com/office/powerpoint/2010/main" val="27479512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オブジェクト指向プログラミングを意識しました。</a:t>
            </a:r>
            <a:endParaRPr kumimoji="1" lang="en-US" altLang="ja-JP" dirty="0"/>
          </a:p>
          <a:p>
            <a:r>
              <a:rPr kumimoji="1" lang="ja-JP" altLang="en-US" dirty="0"/>
              <a:t>カプセル化によるアクセス制御やクラスごとの役割分けなど。</a:t>
            </a:r>
            <a:endParaRPr kumimoji="1" lang="en-US" altLang="ja-JP" dirty="0"/>
          </a:p>
          <a:p>
            <a:r>
              <a:rPr kumimoji="1" lang="ja-JP" altLang="en-US" dirty="0"/>
              <a:t>また、</a:t>
            </a:r>
            <a:r>
              <a:rPr kumimoji="1" lang="en-US" altLang="ja-JP" dirty="0"/>
              <a:t>Java</a:t>
            </a:r>
            <a:r>
              <a:rPr kumimoji="1" lang="ja-JP" altLang="en-US" dirty="0"/>
              <a:t>なので、簡単なものに限るんですけど、パッケージを活用してプログラムを作成できたのもよかった点だと思ってます。</a:t>
            </a:r>
            <a:endParaRPr kumimoji="1" lang="en-US" altLang="ja-JP" dirty="0"/>
          </a:p>
          <a:p>
            <a:r>
              <a:rPr kumimoji="1" lang="ja-JP" altLang="en-US" dirty="0"/>
              <a:t>あとは、例外処理をきちんと記述できたことです。</a:t>
            </a:r>
            <a:endParaRPr kumimoji="1" lang="en-US" altLang="ja-JP" dirty="0"/>
          </a:p>
          <a:p>
            <a:r>
              <a:rPr kumimoji="1" lang="ja-JP" altLang="en-US" dirty="0"/>
              <a:t>総じて、ここで学んだことをしっかり理解して形にできるよう努めました。</a:t>
            </a:r>
          </a:p>
        </p:txBody>
      </p:sp>
      <p:sp>
        <p:nvSpPr>
          <p:cNvPr id="4" name="スライド番号プレースホルダー 3"/>
          <p:cNvSpPr>
            <a:spLocks noGrp="1"/>
          </p:cNvSpPr>
          <p:nvPr>
            <p:ph type="sldNum" sz="quarter" idx="5"/>
          </p:nvPr>
        </p:nvSpPr>
        <p:spPr/>
        <p:txBody>
          <a:bodyPr/>
          <a:lstStyle/>
          <a:p>
            <a:fld id="{E2FFE2D4-4D0A-4AA6-83CB-8BCCB98C49D6}" type="slidenum">
              <a:rPr kumimoji="1" lang="ja-JP" altLang="en-US" smtClean="0"/>
              <a:t>10</a:t>
            </a:fld>
            <a:endParaRPr kumimoji="1" lang="ja-JP" altLang="en-US"/>
          </a:p>
        </p:txBody>
      </p:sp>
    </p:spTree>
    <p:extLst>
      <p:ext uri="{BB962C8B-B14F-4D97-AF65-F5344CB8AC3E}">
        <p14:creationId xmlns:p14="http://schemas.microsoft.com/office/powerpoint/2010/main" val="4667158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今後の改善点やうまくいかなかったところです。</a:t>
            </a:r>
            <a:endParaRPr kumimoji="1" lang="en-US" altLang="ja-JP" dirty="0"/>
          </a:p>
          <a:p>
            <a:r>
              <a:rPr kumimoji="1" lang="ja-JP" altLang="en-US" dirty="0"/>
              <a:t>まず、いくつかのクラス内で</a:t>
            </a:r>
            <a:r>
              <a:rPr kumimoji="1" lang="en-US" altLang="ja-JP" dirty="0"/>
              <a:t>Scanner</a:t>
            </a:r>
            <a:r>
              <a:rPr kumimoji="1" lang="ja-JP" altLang="en-US" dirty="0"/>
              <a:t>がそれぞれ閉じられていません。</a:t>
            </a:r>
            <a:endParaRPr kumimoji="1" lang="en-US" altLang="ja-JP" dirty="0"/>
          </a:p>
          <a:p>
            <a:r>
              <a:rPr kumimoji="1" lang="ja-JP" altLang="en-US" dirty="0"/>
              <a:t>これらを</a:t>
            </a:r>
            <a:r>
              <a:rPr kumimoji="1" lang="en-US" altLang="ja-JP" dirty="0"/>
              <a:t>close()</a:t>
            </a:r>
            <a:r>
              <a:rPr kumimoji="1" lang="ja-JP" altLang="en-US" dirty="0"/>
              <a:t>で閉じるとプログラムが正常に動作しなくなります。</a:t>
            </a:r>
            <a:br>
              <a:rPr kumimoji="1" lang="en-US" altLang="ja-JP" dirty="0"/>
            </a:br>
            <a:r>
              <a:rPr kumimoji="1" lang="ja-JP" altLang="en-US" dirty="0"/>
              <a:t>現状でもプログラム自体は問題なく動きますし、このくらいの規模だと大丈夫と</a:t>
            </a:r>
            <a:r>
              <a:rPr kumimoji="1" lang="en-US" altLang="ja-JP" dirty="0"/>
              <a:t>AI</a:t>
            </a:r>
            <a:r>
              <a:rPr kumimoji="1" lang="ja-JP" altLang="en-US" dirty="0"/>
              <a:t>にも言われたのですが、規模を広げたり予期しない入力があった際などにバグが発生する可能性を秘めています。</a:t>
            </a:r>
            <a:endParaRPr kumimoji="1" lang="en-US" altLang="ja-JP" dirty="0"/>
          </a:p>
          <a:p>
            <a:r>
              <a:rPr kumimoji="1" lang="ja-JP" altLang="en-US" dirty="0"/>
              <a:t>今の自分では解決できなかったのが心残りなので、今後このプログラムをいじるときがあれば改善したいところです。</a:t>
            </a:r>
            <a:endParaRPr kumimoji="1" lang="en-US" altLang="ja-JP" dirty="0"/>
          </a:p>
          <a:p>
            <a:endParaRPr kumimoji="1" lang="en-US" altLang="ja-JP" dirty="0"/>
          </a:p>
          <a:p>
            <a:r>
              <a:rPr kumimoji="1" lang="ja-JP" altLang="en-US" dirty="0"/>
              <a:t>技術も知識も工数も足りなかったのでできなかったのですが、今後は</a:t>
            </a:r>
            <a:r>
              <a:rPr kumimoji="1" lang="en-US" altLang="ja-JP" dirty="0"/>
              <a:t>GUI</a:t>
            </a:r>
            <a:r>
              <a:rPr kumimoji="1" lang="ja-JP" altLang="en-US" dirty="0"/>
              <a:t>化や</a:t>
            </a:r>
            <a:r>
              <a:rPr kumimoji="1" lang="en-US" altLang="ja-JP" dirty="0"/>
              <a:t>Web</a:t>
            </a:r>
            <a:r>
              <a:rPr kumimoji="1" lang="ja-JP" altLang="en-US" dirty="0"/>
              <a:t>アプリ化などを行い直観的な操作ができるようなシステムにしたいです。</a:t>
            </a:r>
            <a:endParaRPr kumimoji="1" lang="en-US" altLang="ja-JP" dirty="0"/>
          </a:p>
          <a:p>
            <a:endParaRPr kumimoji="1" lang="en-US" altLang="ja-JP" dirty="0"/>
          </a:p>
          <a:p>
            <a:r>
              <a:rPr kumimoji="1" lang="ja-JP" altLang="en-US" dirty="0"/>
              <a:t>商品の数が増えたときに備え、検索機能などがあればいいなと思います。</a:t>
            </a:r>
          </a:p>
        </p:txBody>
      </p:sp>
      <p:sp>
        <p:nvSpPr>
          <p:cNvPr id="4" name="スライド番号プレースホルダー 3"/>
          <p:cNvSpPr>
            <a:spLocks noGrp="1"/>
          </p:cNvSpPr>
          <p:nvPr>
            <p:ph type="sldNum" sz="quarter" idx="5"/>
          </p:nvPr>
        </p:nvSpPr>
        <p:spPr/>
        <p:txBody>
          <a:bodyPr/>
          <a:lstStyle/>
          <a:p>
            <a:fld id="{E2FFE2D4-4D0A-4AA6-83CB-8BCCB98C49D6}" type="slidenum">
              <a:rPr kumimoji="1" lang="ja-JP" altLang="en-US" smtClean="0"/>
              <a:t>11</a:t>
            </a:fld>
            <a:endParaRPr kumimoji="1" lang="ja-JP" altLang="en-US"/>
          </a:p>
        </p:txBody>
      </p:sp>
    </p:spTree>
    <p:extLst>
      <p:ext uri="{BB962C8B-B14F-4D97-AF65-F5344CB8AC3E}">
        <p14:creationId xmlns:p14="http://schemas.microsoft.com/office/powerpoint/2010/main" val="2311202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そのまま読む。</a:t>
            </a:r>
            <a:endParaRPr kumimoji="1" lang="en-US" altLang="ja-JP" dirty="0"/>
          </a:p>
          <a:p>
            <a:r>
              <a:rPr kumimoji="1" lang="ja-JP" altLang="en-US" dirty="0"/>
              <a:t>自分の言葉で。</a:t>
            </a:r>
          </a:p>
        </p:txBody>
      </p:sp>
      <p:sp>
        <p:nvSpPr>
          <p:cNvPr id="4" name="スライド番号プレースホルダー 3"/>
          <p:cNvSpPr>
            <a:spLocks noGrp="1"/>
          </p:cNvSpPr>
          <p:nvPr>
            <p:ph type="sldNum" sz="quarter" idx="5"/>
          </p:nvPr>
        </p:nvSpPr>
        <p:spPr/>
        <p:txBody>
          <a:bodyPr/>
          <a:lstStyle/>
          <a:p>
            <a:fld id="{E2FFE2D4-4D0A-4AA6-83CB-8BCCB98C49D6}" type="slidenum">
              <a:rPr kumimoji="1" lang="ja-JP" altLang="en-US" smtClean="0"/>
              <a:t>12</a:t>
            </a:fld>
            <a:endParaRPr kumimoji="1" lang="ja-JP" altLang="en-US"/>
          </a:p>
        </p:txBody>
      </p:sp>
    </p:spTree>
    <p:extLst>
      <p:ext uri="{BB962C8B-B14F-4D97-AF65-F5344CB8AC3E}">
        <p14:creationId xmlns:p14="http://schemas.microsoft.com/office/powerpoint/2010/main" val="1538506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atin typeface="Arial" panose="020B0604020202020204" pitchFamily="34" charset="0"/>
                <a:cs typeface="Arial" panose="020B0604020202020204" pitchFamily="34" charset="0"/>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dirty="0"/>
              <a:t>マスター サブタイトルの書式設定</a:t>
            </a:r>
            <a:endParaRPr lang="en-US" dirty="0"/>
          </a:p>
        </p:txBody>
      </p:sp>
      <p:sp>
        <p:nvSpPr>
          <p:cNvPr id="4" name="Date Placeholder 3"/>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1902528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lvl1pPr>
              <a:defRPr>
                <a:latin typeface="Arial" panose="020B0604020202020204" pitchFamily="34" charset="0"/>
                <a:cs typeface="Arial" panose="020B0604020202020204" pitchFamily="34" charset="0"/>
              </a:defRPr>
            </a:lvl1pPr>
          </a:lstStyle>
          <a:p>
            <a:r>
              <a:rPr lang="ja-JP" altLang="en-US" dirty="0"/>
              <a:t>マスター タイトルの書式設定</a:t>
            </a:r>
            <a:endParaRPr lang="en-US" dirty="0"/>
          </a:p>
        </p:txBody>
      </p:sp>
      <p:sp>
        <p:nvSpPr>
          <p:cNvPr id="3" name="Content Placeholder 2"/>
          <p:cNvSpPr>
            <a:spLocks noGrp="1"/>
          </p:cNvSpPr>
          <p:nvPr>
            <p:ph idx="1"/>
          </p:nvPr>
        </p:nvSpPr>
        <p:spPr>
          <a:xfrm>
            <a:off x="818712" y="2222287"/>
            <a:ext cx="10554574" cy="3636511"/>
          </a:xfrm>
        </p:spPr>
        <p:txBody>
          <a:bodyPr/>
          <a:lstStyle>
            <a:lvl1pPr>
              <a:defRPr>
                <a:latin typeface="Arial" panose="020B0604020202020204" pitchFamily="34" charset="0"/>
                <a:cs typeface="Arial" panose="020B0604020202020204" pitchFamily="34" charset="0"/>
              </a:defRPr>
            </a:lvl1pPr>
            <a:lvl2pPr marL="742950" indent="-285750">
              <a:buFont typeface="Wingdings" panose="05000000000000000000" pitchFamily="2" charset="2"/>
              <a:buChar char="l"/>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p"/>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1699543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2402906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3188971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834919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774118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1417763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ja-JP" altLang="en-US"/>
              <a:t>マスター タイトルの書式設定</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3735759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ja-JP" altLang="en-US"/>
              <a:t>マスター タイトルの書式設定</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a:xfrm>
            <a:off x="3885810" y="6041362"/>
            <a:ext cx="976879" cy="365125"/>
          </a:xfrm>
        </p:spPr>
        <p:txBody>
          <a:bodyPr/>
          <a:lstStyle/>
          <a:p>
            <a:fld id="{33BF9EED-4588-48E1-9061-1A2C5259B043}" type="datetimeFigureOut">
              <a:rPr kumimoji="1" lang="ja-JP" altLang="en-US" smtClean="0"/>
              <a:t>2026/4/23</a:t>
            </a:fld>
            <a:endParaRPr kumimoji="1" lang="ja-JP" altLang="en-US"/>
          </a:p>
        </p:txBody>
      </p:sp>
      <p:sp>
        <p:nvSpPr>
          <p:cNvPr id="6" name="Footer Placeholder 5"/>
          <p:cNvSpPr>
            <a:spLocks noGrp="1"/>
          </p:cNvSpPr>
          <p:nvPr>
            <p:ph type="ftr" sz="quarter" idx="11"/>
          </p:nvPr>
        </p:nvSpPr>
        <p:spPr>
          <a:xfrm>
            <a:off x="590396" y="6041362"/>
            <a:ext cx="3295413" cy="365125"/>
          </a:xfrm>
        </p:spPr>
        <p:txBody>
          <a:bodyPr/>
          <a:lstStyle/>
          <a:p>
            <a:endParaRPr kumimoji="1" lang="ja-JP" altLang="en-US"/>
          </a:p>
        </p:txBody>
      </p:sp>
      <p:sp>
        <p:nvSpPr>
          <p:cNvPr id="7" name="Slide Number Placeholder 6"/>
          <p:cNvSpPr>
            <a:spLocks noGrp="1"/>
          </p:cNvSpPr>
          <p:nvPr>
            <p:ph type="sldNum" sz="quarter" idx="12"/>
          </p:nvPr>
        </p:nvSpPr>
        <p:spPr>
          <a:xfrm>
            <a:off x="4862689" y="5915888"/>
            <a:ext cx="1062155" cy="490599"/>
          </a:xfrm>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4095343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ja-JP" altLang="en-US"/>
              <a:t>マスター タイトルの書式設定</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2324658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3312189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ja-JP" altLang="en-US"/>
              <a:t>マスター タイトルの書式設定</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ja-JP" altLang="en-US"/>
              <a:t>マスター テキストの書式設定</a:t>
            </a:r>
          </a:p>
        </p:txBody>
      </p:sp>
      <p:sp>
        <p:nvSpPr>
          <p:cNvPr id="2" name="Date Placeholder 1"/>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33162849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38731889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3BF9EED-4588-48E1-9061-1A2C5259B043}" type="datetimeFigureOut">
              <a:rPr kumimoji="1" lang="ja-JP" altLang="en-US" smtClean="0"/>
              <a:t>2026/4/23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41111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kumimoji="1" lang="ja-JP" alt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33BF9EED-4588-48E1-9061-1A2C5259B043}" type="datetimeFigureOut">
              <a:rPr kumimoji="1" lang="ja-JP" altLang="en-US" smtClean="0"/>
              <a:t>2026/4/23</a:t>
            </a:fld>
            <a:endParaRPr kumimoji="1" lang="ja-JP" alt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910B4152-B4D5-4054-AD2B-0EC24161FC66}" type="slidenum">
              <a:rPr kumimoji="1" lang="ja-JP" altLang="en-US" smtClean="0"/>
              <a:t>‹#›</a:t>
            </a:fld>
            <a:endParaRPr kumimoji="1" lang="ja-JP" altLang="en-US"/>
          </a:p>
        </p:txBody>
      </p:sp>
    </p:spTree>
    <p:extLst>
      <p:ext uri="{BB962C8B-B14F-4D97-AF65-F5344CB8AC3E}">
        <p14:creationId xmlns:p14="http://schemas.microsoft.com/office/powerpoint/2010/main" val="3235164899"/>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Lst>
  <p:txStyles>
    <p:titleStyle>
      <a:lvl1pPr algn="l" defTabSz="457200" rtl="0" eaLnBrk="1" latinLnBrk="0" hangingPunct="1">
        <a:spcBef>
          <a:spcPct val="0"/>
        </a:spcBef>
        <a:buNone/>
        <a:defRPr kumimoji="1" sz="4000" b="1" kern="1200">
          <a:solidFill>
            <a:srgbClr val="FEFEFE"/>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kumimoji="1"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kumimoji="1"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kumimoji="1"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kumimoji="1"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kumimoji="1"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kumimoji="1"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kumimoji="1"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kumimoji="1"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kumimoji="1" sz="1200" kern="1200">
          <a:solidFill>
            <a:schemeClr val="tx1"/>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08C621-C85D-4A3A-84C1-B2E522C1BFB6}"/>
              </a:ext>
            </a:extLst>
          </p:cNvPr>
          <p:cNvSpPr>
            <a:spLocks noGrp="1"/>
          </p:cNvSpPr>
          <p:nvPr>
            <p:ph type="ctrTitle"/>
          </p:nvPr>
        </p:nvSpPr>
        <p:spPr/>
        <p:txBody>
          <a:bodyPr/>
          <a:lstStyle/>
          <a:p>
            <a:r>
              <a:rPr kumimoji="1" lang="ja-JP" altLang="en-US" dirty="0"/>
              <a:t>総合制作課題発表</a:t>
            </a:r>
          </a:p>
        </p:txBody>
      </p:sp>
      <p:sp>
        <p:nvSpPr>
          <p:cNvPr id="3" name="字幕 2">
            <a:extLst>
              <a:ext uri="{FF2B5EF4-FFF2-40B4-BE49-F238E27FC236}">
                <a16:creationId xmlns:a16="http://schemas.microsoft.com/office/drawing/2014/main" id="{82F05171-A4EB-49F4-BF1B-60D9B2A04372}"/>
              </a:ext>
            </a:extLst>
          </p:cNvPr>
          <p:cNvSpPr>
            <a:spLocks noGrp="1"/>
          </p:cNvSpPr>
          <p:nvPr>
            <p:ph type="subTitle" idx="1"/>
          </p:nvPr>
        </p:nvSpPr>
        <p:spPr>
          <a:xfrm>
            <a:off x="810001" y="5280846"/>
            <a:ext cx="10572000" cy="815154"/>
          </a:xfrm>
        </p:spPr>
        <p:txBody>
          <a:bodyPr>
            <a:noAutofit/>
          </a:bodyPr>
          <a:lstStyle/>
          <a:p>
            <a:pPr algn="r"/>
            <a:r>
              <a:rPr kumimoji="1" lang="en-US" altLang="ja-JP" sz="2400" b="1" dirty="0"/>
              <a:t>2026</a:t>
            </a:r>
            <a:r>
              <a:rPr kumimoji="1" lang="ja-JP" altLang="en-US" sz="2400" b="1" dirty="0"/>
              <a:t>年</a:t>
            </a:r>
            <a:r>
              <a:rPr kumimoji="1" lang="en-US" altLang="ja-JP" sz="2400" b="1" dirty="0"/>
              <a:t>4</a:t>
            </a:r>
            <a:r>
              <a:rPr kumimoji="1" lang="ja-JP" altLang="en-US" sz="2400" b="1" dirty="0"/>
              <a:t>月</a:t>
            </a:r>
            <a:r>
              <a:rPr kumimoji="1" lang="en-US" altLang="ja-JP" sz="2400" b="1" dirty="0"/>
              <a:t>27</a:t>
            </a:r>
            <a:r>
              <a:rPr kumimoji="1" lang="ja-JP" altLang="en-US" sz="2400" b="1" dirty="0"/>
              <a:t>日</a:t>
            </a:r>
            <a:endParaRPr kumimoji="1" lang="en-US" altLang="ja-JP" sz="2400" b="1" dirty="0"/>
          </a:p>
          <a:p>
            <a:pPr algn="r"/>
            <a:r>
              <a:rPr kumimoji="1" lang="ja-JP" altLang="en-US" sz="2400" b="1" dirty="0"/>
              <a:t>発表者：水田健斗</a:t>
            </a:r>
            <a:endParaRPr kumimoji="1" lang="en-US" altLang="ja-JP" sz="2400" b="1" dirty="0"/>
          </a:p>
        </p:txBody>
      </p:sp>
    </p:spTree>
    <p:extLst>
      <p:ext uri="{BB962C8B-B14F-4D97-AF65-F5344CB8AC3E}">
        <p14:creationId xmlns:p14="http://schemas.microsoft.com/office/powerpoint/2010/main" val="3259244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5815C9-E7A2-4DCB-8477-D0C5B714DADB}"/>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42ED1927-6B8D-47A4-B646-7A600E9197D4}"/>
              </a:ext>
            </a:extLst>
          </p:cNvPr>
          <p:cNvSpPr>
            <a:spLocks noGrp="1"/>
          </p:cNvSpPr>
          <p:nvPr>
            <p:ph idx="1"/>
          </p:nvPr>
        </p:nvSpPr>
        <p:spPr>
          <a:xfrm>
            <a:off x="818712" y="2222287"/>
            <a:ext cx="10554574" cy="4330913"/>
          </a:xfrm>
        </p:spPr>
        <p:txBody>
          <a:bodyPr>
            <a:noAutofit/>
          </a:bodyPr>
          <a:lstStyle/>
          <a:p>
            <a:r>
              <a:rPr kumimoji="1" lang="ja-JP" altLang="en-US" sz="2600" dirty="0"/>
              <a:t>何を作ったのか</a:t>
            </a:r>
          </a:p>
          <a:p>
            <a:r>
              <a:rPr kumimoji="1" lang="ja-JP" altLang="en-US" sz="2600" dirty="0"/>
              <a:t>実践</a:t>
            </a:r>
          </a:p>
          <a:p>
            <a:r>
              <a:rPr kumimoji="1" lang="ja-JP" altLang="en-US" sz="2600" dirty="0"/>
              <a:t>なぜ作ったのか</a:t>
            </a:r>
          </a:p>
          <a:p>
            <a:r>
              <a:rPr kumimoji="1" lang="ja-JP" altLang="en-US" sz="2600" dirty="0"/>
              <a:t>機能紹介</a:t>
            </a:r>
            <a:r>
              <a:rPr kumimoji="1" lang="en-US" altLang="ja-JP" sz="2600" dirty="0"/>
              <a:t>Ⅰ</a:t>
            </a:r>
            <a:r>
              <a:rPr kumimoji="1" lang="ja-JP" altLang="en-US" sz="2600" dirty="0"/>
              <a:t>～</a:t>
            </a:r>
            <a:r>
              <a:rPr kumimoji="1" lang="en-US" altLang="ja-JP" sz="2600" dirty="0"/>
              <a:t>Ⅲ</a:t>
            </a:r>
          </a:p>
          <a:p>
            <a:r>
              <a:rPr kumimoji="1" lang="ja-JP" altLang="en-US" sz="2600" dirty="0"/>
              <a:t>システム作成の工夫点</a:t>
            </a:r>
          </a:p>
          <a:p>
            <a:r>
              <a:rPr kumimoji="1" lang="ja-JP" altLang="en-US" sz="2600" dirty="0"/>
              <a:t>コード記述の工夫点</a:t>
            </a:r>
          </a:p>
          <a:p>
            <a:r>
              <a:rPr kumimoji="1" lang="ja-JP" altLang="en-US" sz="2600" dirty="0"/>
              <a:t>改善点</a:t>
            </a:r>
          </a:p>
          <a:p>
            <a:r>
              <a:rPr kumimoji="1" lang="ja-JP" altLang="en-US" sz="2600" dirty="0"/>
              <a:t>まとめ</a:t>
            </a:r>
          </a:p>
        </p:txBody>
      </p:sp>
    </p:spTree>
    <p:extLst>
      <p:ext uri="{BB962C8B-B14F-4D97-AF65-F5344CB8AC3E}">
        <p14:creationId xmlns:p14="http://schemas.microsoft.com/office/powerpoint/2010/main" val="1582994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151F43-37A5-47F8-90FF-4D6EDEE17FDB}"/>
              </a:ext>
            </a:extLst>
          </p:cNvPr>
          <p:cNvSpPr>
            <a:spLocks noGrp="1"/>
          </p:cNvSpPr>
          <p:nvPr>
            <p:ph type="title"/>
          </p:nvPr>
        </p:nvSpPr>
        <p:spPr/>
        <p:txBody>
          <a:bodyPr/>
          <a:lstStyle/>
          <a:p>
            <a:r>
              <a:rPr kumimoji="1" lang="ja-JP" altLang="en-US" dirty="0"/>
              <a:t>何を作ったのか</a:t>
            </a:r>
          </a:p>
        </p:txBody>
      </p:sp>
      <p:sp>
        <p:nvSpPr>
          <p:cNvPr id="3" name="コンテンツ プレースホルダー 2">
            <a:extLst>
              <a:ext uri="{FF2B5EF4-FFF2-40B4-BE49-F238E27FC236}">
                <a16:creationId xmlns:a16="http://schemas.microsoft.com/office/drawing/2014/main" id="{D90B444E-DBE9-42B9-AB95-FEC0CD502AEC}"/>
              </a:ext>
            </a:extLst>
          </p:cNvPr>
          <p:cNvSpPr>
            <a:spLocks noGrp="1"/>
          </p:cNvSpPr>
          <p:nvPr>
            <p:ph idx="1"/>
          </p:nvPr>
        </p:nvSpPr>
        <p:spPr>
          <a:xfrm>
            <a:off x="818712" y="2222287"/>
            <a:ext cx="10554574" cy="4188525"/>
          </a:xfrm>
        </p:spPr>
        <p:txBody>
          <a:bodyPr>
            <a:normAutofit/>
          </a:bodyPr>
          <a:lstStyle/>
          <a:p>
            <a:r>
              <a:rPr kumimoji="1" lang="en-US" altLang="ja-JP" sz="3600" b="1" u="sng" dirty="0"/>
              <a:t>Java</a:t>
            </a:r>
            <a:r>
              <a:rPr kumimoji="1" lang="ja-JP" altLang="en-US" sz="3600" b="1" u="sng" dirty="0"/>
              <a:t>を利用した簡易的な在庫管理システム</a:t>
            </a:r>
            <a:endParaRPr kumimoji="1" lang="en-US" altLang="ja-JP" sz="3600" b="1" u="sng" dirty="0"/>
          </a:p>
          <a:p>
            <a:pPr lvl="1"/>
            <a:r>
              <a:rPr kumimoji="1" lang="ja-JP" altLang="en-US" sz="2800" dirty="0"/>
              <a:t>商品情報を</a:t>
            </a:r>
            <a:r>
              <a:rPr kumimoji="1" lang="en-US" altLang="ja-JP" sz="2800" dirty="0"/>
              <a:t>CSV</a:t>
            </a:r>
            <a:r>
              <a:rPr kumimoji="1" lang="ja-JP" altLang="en-US" sz="2800" dirty="0"/>
              <a:t>で管理</a:t>
            </a:r>
            <a:endParaRPr kumimoji="1" lang="en-US" altLang="ja-JP" sz="2800" dirty="0"/>
          </a:p>
          <a:p>
            <a:pPr lvl="1"/>
            <a:r>
              <a:rPr kumimoji="1" lang="ja-JP" altLang="en-US" sz="2800" dirty="0"/>
              <a:t>商品一覧の表示・商品の追加</a:t>
            </a:r>
            <a:r>
              <a:rPr kumimoji="1" lang="en-US" altLang="ja-JP" sz="2800" dirty="0"/>
              <a:t>/</a:t>
            </a:r>
            <a:r>
              <a:rPr kumimoji="1" lang="ja-JP" altLang="en-US" sz="2800" dirty="0"/>
              <a:t>削除</a:t>
            </a:r>
            <a:endParaRPr kumimoji="1" lang="en-US" altLang="ja-JP" sz="2800" dirty="0"/>
          </a:p>
          <a:p>
            <a:pPr lvl="1"/>
            <a:r>
              <a:rPr kumimoji="1" lang="ja-JP" altLang="en-US" sz="2800" dirty="0"/>
              <a:t>不足在庫の表示・在庫数の更新</a:t>
            </a:r>
          </a:p>
        </p:txBody>
      </p:sp>
    </p:spTree>
    <p:extLst>
      <p:ext uri="{BB962C8B-B14F-4D97-AF65-F5344CB8AC3E}">
        <p14:creationId xmlns:p14="http://schemas.microsoft.com/office/powerpoint/2010/main" val="2077880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820477-4C31-46E8-AD2D-5BE293492765}"/>
              </a:ext>
            </a:extLst>
          </p:cNvPr>
          <p:cNvSpPr>
            <a:spLocks noGrp="1"/>
          </p:cNvSpPr>
          <p:nvPr>
            <p:ph type="title"/>
          </p:nvPr>
        </p:nvSpPr>
        <p:spPr/>
        <p:txBody>
          <a:bodyPr/>
          <a:lstStyle/>
          <a:p>
            <a:r>
              <a:rPr kumimoji="1" lang="ja-JP" altLang="en-US" dirty="0"/>
              <a:t>実践</a:t>
            </a:r>
          </a:p>
        </p:txBody>
      </p:sp>
      <p:sp>
        <p:nvSpPr>
          <p:cNvPr id="3" name="コンテンツ プレースホルダー 2">
            <a:extLst>
              <a:ext uri="{FF2B5EF4-FFF2-40B4-BE49-F238E27FC236}">
                <a16:creationId xmlns:a16="http://schemas.microsoft.com/office/drawing/2014/main" id="{8C1D96F9-552A-44D9-9E68-EE275700C883}"/>
              </a:ext>
            </a:extLst>
          </p:cNvPr>
          <p:cNvSpPr>
            <a:spLocks noGrp="1"/>
          </p:cNvSpPr>
          <p:nvPr>
            <p:ph idx="1"/>
          </p:nvPr>
        </p:nvSpPr>
        <p:spPr/>
        <p:txBody>
          <a:bodyPr>
            <a:normAutofit/>
          </a:bodyPr>
          <a:lstStyle/>
          <a:p>
            <a:r>
              <a:rPr kumimoji="1" lang="ja-JP" altLang="en-US" sz="3600" dirty="0"/>
              <a:t>まずは、動きを見てください！</a:t>
            </a:r>
          </a:p>
        </p:txBody>
      </p:sp>
    </p:spTree>
    <p:extLst>
      <p:ext uri="{BB962C8B-B14F-4D97-AF65-F5344CB8AC3E}">
        <p14:creationId xmlns:p14="http://schemas.microsoft.com/office/powerpoint/2010/main" val="2550609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697302-C08B-44F8-95D7-E92C53CEFC5D}"/>
              </a:ext>
            </a:extLst>
          </p:cNvPr>
          <p:cNvSpPr>
            <a:spLocks noGrp="1"/>
          </p:cNvSpPr>
          <p:nvPr>
            <p:ph type="title"/>
          </p:nvPr>
        </p:nvSpPr>
        <p:spPr/>
        <p:txBody>
          <a:bodyPr/>
          <a:lstStyle/>
          <a:p>
            <a:r>
              <a:rPr kumimoji="1" lang="ja-JP" altLang="en-US" dirty="0"/>
              <a:t>なぜ作ったのか</a:t>
            </a:r>
          </a:p>
        </p:txBody>
      </p:sp>
      <p:sp>
        <p:nvSpPr>
          <p:cNvPr id="3" name="コンテンツ プレースホルダー 2">
            <a:extLst>
              <a:ext uri="{FF2B5EF4-FFF2-40B4-BE49-F238E27FC236}">
                <a16:creationId xmlns:a16="http://schemas.microsoft.com/office/drawing/2014/main" id="{9CB8C033-E7AD-41B8-AD0B-7FEAE09D92C0}"/>
              </a:ext>
            </a:extLst>
          </p:cNvPr>
          <p:cNvSpPr>
            <a:spLocks noGrp="1"/>
          </p:cNvSpPr>
          <p:nvPr>
            <p:ph idx="1"/>
          </p:nvPr>
        </p:nvSpPr>
        <p:spPr>
          <a:xfrm>
            <a:off x="818712" y="2222287"/>
            <a:ext cx="10554574" cy="4188525"/>
          </a:xfrm>
        </p:spPr>
        <p:txBody>
          <a:bodyPr>
            <a:normAutofit fontScale="92500"/>
          </a:bodyPr>
          <a:lstStyle/>
          <a:p>
            <a:r>
              <a:rPr kumimoji="1" lang="en-US" altLang="ja-JP" sz="2800" b="1" u="sng" dirty="0"/>
              <a:t>Java</a:t>
            </a:r>
            <a:r>
              <a:rPr lang="ja-JP" altLang="en-US" sz="2800" b="1" u="sng" dirty="0"/>
              <a:t>の理解度向上のため</a:t>
            </a:r>
            <a:endParaRPr lang="en-US" altLang="ja-JP" sz="2800" b="1" u="sng" dirty="0"/>
          </a:p>
          <a:p>
            <a:pPr lvl="1"/>
            <a:r>
              <a:rPr kumimoji="1" lang="ja-JP" altLang="en-US" sz="2800" dirty="0"/>
              <a:t>試験</a:t>
            </a:r>
            <a:r>
              <a:rPr lang="ja-JP" altLang="en-US" sz="2800" dirty="0"/>
              <a:t>のために仕組みを勉強したが、自力で書いた経験が薄いと感じていた</a:t>
            </a:r>
            <a:endParaRPr lang="en-US" altLang="ja-JP" sz="2800" dirty="0"/>
          </a:p>
          <a:p>
            <a:pPr lvl="1"/>
            <a:r>
              <a:rPr lang="ja-JP" altLang="en-US" sz="2800" dirty="0"/>
              <a:t>石川県では</a:t>
            </a:r>
            <a:r>
              <a:rPr lang="en-US" altLang="ja-JP" sz="2800" dirty="0"/>
              <a:t>Java</a:t>
            </a:r>
            <a:r>
              <a:rPr lang="ja-JP" altLang="en-US" sz="2800" dirty="0"/>
              <a:t>の案件が多いと聞いたため慣れておきたかった</a:t>
            </a:r>
            <a:endParaRPr lang="en-US" altLang="ja-JP" sz="2800" dirty="0"/>
          </a:p>
          <a:p>
            <a:endParaRPr kumimoji="1" lang="en-US" altLang="ja-JP" sz="2800" dirty="0"/>
          </a:p>
          <a:p>
            <a:r>
              <a:rPr lang="ja-JP" altLang="en-US" sz="2800" b="1" u="sng" dirty="0"/>
              <a:t>システムのイメージが湧きやすかったため</a:t>
            </a:r>
            <a:endParaRPr lang="en-US" altLang="ja-JP" sz="2800" b="1" u="sng" dirty="0"/>
          </a:p>
          <a:p>
            <a:pPr lvl="1"/>
            <a:r>
              <a:rPr kumimoji="1" lang="ja-JP" altLang="en-US" sz="2800" dirty="0"/>
              <a:t>前職の経験などから在庫管理システムの稼働イメージが湧きやすかった</a:t>
            </a:r>
          </a:p>
        </p:txBody>
      </p:sp>
    </p:spTree>
    <p:extLst>
      <p:ext uri="{BB962C8B-B14F-4D97-AF65-F5344CB8AC3E}">
        <p14:creationId xmlns:p14="http://schemas.microsoft.com/office/powerpoint/2010/main" val="3613963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C51B18-2E8A-4B08-AC35-D7FF8B7BF382}"/>
              </a:ext>
            </a:extLst>
          </p:cNvPr>
          <p:cNvSpPr>
            <a:spLocks noGrp="1"/>
          </p:cNvSpPr>
          <p:nvPr>
            <p:ph type="title"/>
          </p:nvPr>
        </p:nvSpPr>
        <p:spPr/>
        <p:txBody>
          <a:bodyPr/>
          <a:lstStyle/>
          <a:p>
            <a:r>
              <a:rPr kumimoji="1" lang="ja-JP" altLang="en-US" dirty="0"/>
              <a:t>機能紹介</a:t>
            </a:r>
            <a:r>
              <a:rPr lang="en-US" altLang="ja-JP" dirty="0"/>
              <a:t>Ⅰ</a:t>
            </a:r>
            <a:endParaRPr kumimoji="1" lang="ja-JP" altLang="en-US" dirty="0"/>
          </a:p>
        </p:txBody>
      </p:sp>
      <p:sp>
        <p:nvSpPr>
          <p:cNvPr id="3" name="コンテンツ プレースホルダー 2">
            <a:extLst>
              <a:ext uri="{FF2B5EF4-FFF2-40B4-BE49-F238E27FC236}">
                <a16:creationId xmlns:a16="http://schemas.microsoft.com/office/drawing/2014/main" id="{9F15D69A-27BB-480D-9C29-43DECE9B59EB}"/>
              </a:ext>
            </a:extLst>
          </p:cNvPr>
          <p:cNvSpPr>
            <a:spLocks noGrp="1"/>
          </p:cNvSpPr>
          <p:nvPr>
            <p:ph idx="1"/>
          </p:nvPr>
        </p:nvSpPr>
        <p:spPr>
          <a:xfrm>
            <a:off x="818712" y="2252767"/>
            <a:ext cx="10554574" cy="4330913"/>
          </a:xfrm>
        </p:spPr>
        <p:txBody>
          <a:bodyPr>
            <a:noAutofit/>
          </a:bodyPr>
          <a:lstStyle/>
          <a:p>
            <a:r>
              <a:rPr kumimoji="1" lang="ja-JP" altLang="en-US" sz="2600" dirty="0"/>
              <a:t>プログラムを起動</a:t>
            </a:r>
            <a:endParaRPr kumimoji="1" lang="en-US" altLang="ja-JP" sz="2600" dirty="0"/>
          </a:p>
          <a:p>
            <a:pPr lvl="1"/>
            <a:r>
              <a:rPr kumimoji="1" lang="ja-JP" altLang="en-US" sz="2600" dirty="0"/>
              <a:t>商品一覧を表示</a:t>
            </a:r>
            <a:endParaRPr kumimoji="1" lang="en-US" altLang="ja-JP" sz="2600" dirty="0"/>
          </a:p>
          <a:p>
            <a:pPr lvl="1"/>
            <a:r>
              <a:rPr lang="ja-JP" altLang="en-US" sz="2600" dirty="0"/>
              <a:t>在庫不足（最低在庫数以下の在庫数の商品）一覧を表示</a:t>
            </a:r>
            <a:endParaRPr lang="en-US" altLang="ja-JP" sz="2600" dirty="0"/>
          </a:p>
          <a:p>
            <a:pPr lvl="1"/>
            <a:r>
              <a:rPr kumimoji="1" lang="ja-JP" altLang="en-US" sz="2600" dirty="0"/>
              <a:t>次に行う作業を選択</a:t>
            </a:r>
            <a:endParaRPr kumimoji="1" lang="en-US" altLang="ja-JP" sz="2600" dirty="0"/>
          </a:p>
          <a:p>
            <a:pPr lvl="2"/>
            <a:r>
              <a:rPr kumimoji="1" lang="en-US" altLang="ja-JP" sz="2600" dirty="0"/>
              <a:t>1 &gt;&gt; </a:t>
            </a:r>
            <a:r>
              <a:rPr kumimoji="1" lang="ja-JP" altLang="en-US" sz="2600" dirty="0"/>
              <a:t>新しい商品の追加</a:t>
            </a:r>
            <a:endParaRPr kumimoji="1" lang="en-US" altLang="ja-JP" sz="2600" dirty="0"/>
          </a:p>
          <a:p>
            <a:pPr lvl="2"/>
            <a:r>
              <a:rPr lang="en-US" altLang="ja-JP" sz="2600" dirty="0"/>
              <a:t>2 &gt;&gt; </a:t>
            </a:r>
            <a:r>
              <a:rPr lang="ja-JP" altLang="en-US" sz="2600" dirty="0"/>
              <a:t>商品の在庫数の更新</a:t>
            </a:r>
            <a:endParaRPr lang="en-US" altLang="ja-JP" sz="2600" dirty="0"/>
          </a:p>
          <a:p>
            <a:pPr lvl="2"/>
            <a:r>
              <a:rPr kumimoji="1" lang="en-US" altLang="ja-JP" sz="2600" dirty="0"/>
              <a:t>3 &gt;&gt; </a:t>
            </a:r>
            <a:r>
              <a:rPr kumimoji="1" lang="ja-JP" altLang="en-US" sz="2600" dirty="0"/>
              <a:t>商品の削除</a:t>
            </a:r>
            <a:endParaRPr kumimoji="1" lang="en-US" altLang="ja-JP" sz="2600" dirty="0"/>
          </a:p>
          <a:p>
            <a:pPr lvl="2"/>
            <a:r>
              <a:rPr lang="en-US" altLang="ja-JP" sz="2600" dirty="0"/>
              <a:t>4 &gt;&gt; </a:t>
            </a:r>
            <a:r>
              <a:rPr lang="ja-JP" altLang="en-US" sz="2600" dirty="0"/>
              <a:t>作業の終了</a:t>
            </a:r>
            <a:endParaRPr kumimoji="1" lang="ja-JP" altLang="en-US" sz="2600" dirty="0"/>
          </a:p>
        </p:txBody>
      </p:sp>
    </p:spTree>
    <p:extLst>
      <p:ext uri="{BB962C8B-B14F-4D97-AF65-F5344CB8AC3E}">
        <p14:creationId xmlns:p14="http://schemas.microsoft.com/office/powerpoint/2010/main" val="671379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C51B18-2E8A-4B08-AC35-D7FF8B7BF382}"/>
              </a:ext>
            </a:extLst>
          </p:cNvPr>
          <p:cNvSpPr>
            <a:spLocks noGrp="1"/>
          </p:cNvSpPr>
          <p:nvPr>
            <p:ph type="title"/>
          </p:nvPr>
        </p:nvSpPr>
        <p:spPr/>
        <p:txBody>
          <a:bodyPr/>
          <a:lstStyle/>
          <a:p>
            <a:r>
              <a:rPr kumimoji="1" lang="ja-JP" altLang="en-US" dirty="0"/>
              <a:t>機能紹介</a:t>
            </a:r>
            <a:r>
              <a:rPr kumimoji="1" lang="en-US" altLang="ja-JP" dirty="0"/>
              <a:t>Ⅱ</a:t>
            </a:r>
            <a:endParaRPr kumimoji="1" lang="ja-JP" altLang="en-US" dirty="0"/>
          </a:p>
        </p:txBody>
      </p:sp>
      <p:sp>
        <p:nvSpPr>
          <p:cNvPr id="3" name="コンテンツ プレースホルダー 2">
            <a:extLst>
              <a:ext uri="{FF2B5EF4-FFF2-40B4-BE49-F238E27FC236}">
                <a16:creationId xmlns:a16="http://schemas.microsoft.com/office/drawing/2014/main" id="{9F15D69A-27BB-480D-9C29-43DECE9B59EB}"/>
              </a:ext>
            </a:extLst>
          </p:cNvPr>
          <p:cNvSpPr>
            <a:spLocks noGrp="1"/>
          </p:cNvSpPr>
          <p:nvPr>
            <p:ph idx="1"/>
          </p:nvPr>
        </p:nvSpPr>
        <p:spPr>
          <a:xfrm>
            <a:off x="818712" y="2222287"/>
            <a:ext cx="10554574" cy="4330913"/>
          </a:xfrm>
        </p:spPr>
        <p:txBody>
          <a:bodyPr>
            <a:noAutofit/>
          </a:bodyPr>
          <a:lstStyle/>
          <a:p>
            <a:r>
              <a:rPr kumimoji="1" lang="ja-JP" altLang="en-US" sz="2600" b="1" u="sng" dirty="0"/>
              <a:t>商品の追加</a:t>
            </a:r>
            <a:endParaRPr kumimoji="1" lang="en-US" altLang="ja-JP" sz="2600" b="1" u="sng" dirty="0"/>
          </a:p>
          <a:p>
            <a:pPr lvl="1"/>
            <a:r>
              <a:rPr lang="ja-JP" altLang="en-US" sz="2600" dirty="0"/>
              <a:t>「</a:t>
            </a:r>
            <a:r>
              <a:rPr lang="en-US" altLang="ja-JP" sz="2600" dirty="0"/>
              <a:t>ID</a:t>
            </a:r>
            <a:r>
              <a:rPr lang="ja-JP" altLang="en-US" sz="2600" dirty="0"/>
              <a:t>、名前、カテゴリ、在庫数、最低在庫数」の項目を入力</a:t>
            </a:r>
            <a:endParaRPr lang="en-US" altLang="ja-JP" sz="2600" dirty="0"/>
          </a:p>
          <a:p>
            <a:pPr lvl="1"/>
            <a:r>
              <a:rPr kumimoji="1" lang="en-US" altLang="ja-JP" sz="2600" dirty="0"/>
              <a:t>CSV</a:t>
            </a:r>
            <a:r>
              <a:rPr kumimoji="1" lang="ja-JP" altLang="en-US" sz="2600" dirty="0"/>
              <a:t>に自動で入力され、保存される</a:t>
            </a:r>
            <a:endParaRPr kumimoji="1" lang="en-US" altLang="ja-JP" sz="2600" dirty="0"/>
          </a:p>
          <a:p>
            <a:pPr lvl="1"/>
            <a:endParaRPr lang="en-US" altLang="ja-JP" sz="2600" dirty="0"/>
          </a:p>
          <a:p>
            <a:r>
              <a:rPr kumimoji="1" lang="ja-JP" altLang="en-US" sz="2600" b="1" u="sng" dirty="0"/>
              <a:t>商品の在庫数の更新</a:t>
            </a:r>
            <a:endParaRPr kumimoji="1" lang="en-US" altLang="ja-JP" sz="2600" b="1" u="sng" dirty="0"/>
          </a:p>
          <a:p>
            <a:pPr lvl="1"/>
            <a:r>
              <a:rPr lang="ja-JP" altLang="en-US" sz="2600" dirty="0"/>
              <a:t>更新したい商品の</a:t>
            </a:r>
            <a:r>
              <a:rPr lang="en-US" altLang="ja-JP" sz="2600" dirty="0"/>
              <a:t>ID</a:t>
            </a:r>
            <a:r>
              <a:rPr lang="ja-JP" altLang="en-US" sz="2600" dirty="0"/>
              <a:t>、在庫数を入力</a:t>
            </a:r>
            <a:endParaRPr lang="en-US" altLang="ja-JP" sz="2600" dirty="0"/>
          </a:p>
          <a:p>
            <a:pPr lvl="1"/>
            <a:r>
              <a:rPr kumimoji="1" lang="en-US" altLang="ja-JP" sz="2600" dirty="0"/>
              <a:t>CSV</a:t>
            </a:r>
            <a:r>
              <a:rPr kumimoji="1" lang="ja-JP" altLang="en-US" sz="2600" dirty="0"/>
              <a:t>に自動で更新され、保存される</a:t>
            </a:r>
          </a:p>
        </p:txBody>
      </p:sp>
    </p:spTree>
    <p:extLst>
      <p:ext uri="{BB962C8B-B14F-4D97-AF65-F5344CB8AC3E}">
        <p14:creationId xmlns:p14="http://schemas.microsoft.com/office/powerpoint/2010/main" val="308984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C51B18-2E8A-4B08-AC35-D7FF8B7BF382}"/>
              </a:ext>
            </a:extLst>
          </p:cNvPr>
          <p:cNvSpPr>
            <a:spLocks noGrp="1"/>
          </p:cNvSpPr>
          <p:nvPr>
            <p:ph type="title"/>
          </p:nvPr>
        </p:nvSpPr>
        <p:spPr/>
        <p:txBody>
          <a:bodyPr/>
          <a:lstStyle/>
          <a:p>
            <a:r>
              <a:rPr kumimoji="1" lang="ja-JP" altLang="en-US" dirty="0"/>
              <a:t>機能紹介</a:t>
            </a:r>
            <a:r>
              <a:rPr lang="en-US" altLang="ja-JP" dirty="0"/>
              <a:t>Ⅲ</a:t>
            </a:r>
            <a:endParaRPr kumimoji="1" lang="ja-JP" altLang="en-US" dirty="0"/>
          </a:p>
        </p:txBody>
      </p:sp>
      <p:sp>
        <p:nvSpPr>
          <p:cNvPr id="3" name="コンテンツ プレースホルダー 2">
            <a:extLst>
              <a:ext uri="{FF2B5EF4-FFF2-40B4-BE49-F238E27FC236}">
                <a16:creationId xmlns:a16="http://schemas.microsoft.com/office/drawing/2014/main" id="{9F15D69A-27BB-480D-9C29-43DECE9B59EB}"/>
              </a:ext>
            </a:extLst>
          </p:cNvPr>
          <p:cNvSpPr>
            <a:spLocks noGrp="1"/>
          </p:cNvSpPr>
          <p:nvPr>
            <p:ph idx="1"/>
          </p:nvPr>
        </p:nvSpPr>
        <p:spPr>
          <a:xfrm>
            <a:off x="818712" y="2222287"/>
            <a:ext cx="10554574" cy="4330913"/>
          </a:xfrm>
        </p:spPr>
        <p:txBody>
          <a:bodyPr>
            <a:noAutofit/>
          </a:bodyPr>
          <a:lstStyle/>
          <a:p>
            <a:r>
              <a:rPr kumimoji="1" lang="ja-JP" altLang="en-US" sz="2600" b="1" u="sng" dirty="0">
                <a:latin typeface="+mn-ea"/>
              </a:rPr>
              <a:t>商品の</a:t>
            </a:r>
            <a:r>
              <a:rPr lang="ja-JP" altLang="en-US" sz="2600" b="1" u="sng" dirty="0">
                <a:latin typeface="+mn-ea"/>
              </a:rPr>
              <a:t>削除</a:t>
            </a:r>
            <a:endParaRPr kumimoji="1" lang="en-US" altLang="ja-JP" sz="2600" b="1" u="sng" dirty="0">
              <a:latin typeface="+mn-ea"/>
            </a:endParaRPr>
          </a:p>
          <a:p>
            <a:pPr lvl="1"/>
            <a:r>
              <a:rPr lang="ja-JP" altLang="en-US" sz="2600" dirty="0">
                <a:latin typeface="+mn-ea"/>
              </a:rPr>
              <a:t>更新したい商品の</a:t>
            </a:r>
            <a:r>
              <a:rPr lang="en-US" altLang="ja-JP" sz="2600" dirty="0">
                <a:latin typeface="+mn-ea"/>
              </a:rPr>
              <a:t>ID</a:t>
            </a:r>
            <a:r>
              <a:rPr lang="ja-JP" altLang="en-US" sz="2600" dirty="0">
                <a:latin typeface="+mn-ea"/>
              </a:rPr>
              <a:t>を入力すると削除される</a:t>
            </a:r>
            <a:endParaRPr kumimoji="1" lang="en-US" altLang="ja-JP" sz="2600" dirty="0">
              <a:latin typeface="+mn-ea"/>
            </a:endParaRPr>
          </a:p>
          <a:p>
            <a:pPr lvl="1"/>
            <a:endParaRPr lang="en-US" altLang="ja-JP" sz="2600" dirty="0">
              <a:latin typeface="+mn-ea"/>
            </a:endParaRPr>
          </a:p>
          <a:p>
            <a:r>
              <a:rPr lang="ja-JP" altLang="en-US" sz="2600" b="1" u="sng" dirty="0">
                <a:latin typeface="+mn-ea"/>
              </a:rPr>
              <a:t>作業の終了以外を選んだ場合</a:t>
            </a:r>
            <a:endParaRPr lang="en-US" altLang="ja-JP" sz="2600" b="1" u="sng" dirty="0">
              <a:latin typeface="+mn-ea"/>
            </a:endParaRPr>
          </a:p>
          <a:p>
            <a:pPr lvl="1"/>
            <a:r>
              <a:rPr lang="ja-JP" altLang="en-US" sz="2600" dirty="0">
                <a:latin typeface="+mn-ea"/>
              </a:rPr>
              <a:t>作業完了後、再び作業選択の画面に戻ってくる</a:t>
            </a:r>
            <a:endParaRPr lang="en-US" altLang="ja-JP" sz="2600" dirty="0">
              <a:latin typeface="+mn-ea"/>
            </a:endParaRPr>
          </a:p>
          <a:p>
            <a:pPr lvl="1"/>
            <a:endParaRPr kumimoji="1" lang="en-US" altLang="ja-JP" sz="2600" b="1" dirty="0">
              <a:latin typeface="+mn-ea"/>
            </a:endParaRPr>
          </a:p>
          <a:p>
            <a:pPr lvl="1"/>
            <a:endParaRPr lang="en-US" altLang="ja-JP" sz="2600" dirty="0">
              <a:latin typeface="+mn-ea"/>
            </a:endParaRPr>
          </a:p>
        </p:txBody>
      </p:sp>
    </p:spTree>
    <p:extLst>
      <p:ext uri="{BB962C8B-B14F-4D97-AF65-F5344CB8AC3E}">
        <p14:creationId xmlns:p14="http://schemas.microsoft.com/office/powerpoint/2010/main" val="1924327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690239-2EDF-4780-BDD6-97D3DC49FF3F}"/>
              </a:ext>
            </a:extLst>
          </p:cNvPr>
          <p:cNvSpPr>
            <a:spLocks noGrp="1"/>
          </p:cNvSpPr>
          <p:nvPr>
            <p:ph type="title"/>
          </p:nvPr>
        </p:nvSpPr>
        <p:spPr/>
        <p:txBody>
          <a:bodyPr/>
          <a:lstStyle/>
          <a:p>
            <a:r>
              <a:rPr kumimoji="1" lang="ja-JP" altLang="en-US" dirty="0"/>
              <a:t>システム作成の工夫点</a:t>
            </a:r>
          </a:p>
        </p:txBody>
      </p:sp>
      <p:sp>
        <p:nvSpPr>
          <p:cNvPr id="3" name="コンテンツ プレースホルダー 2">
            <a:extLst>
              <a:ext uri="{FF2B5EF4-FFF2-40B4-BE49-F238E27FC236}">
                <a16:creationId xmlns:a16="http://schemas.microsoft.com/office/drawing/2014/main" id="{70A8C040-E351-47F2-9DB5-2C67695D693B}"/>
              </a:ext>
            </a:extLst>
          </p:cNvPr>
          <p:cNvSpPr>
            <a:spLocks noGrp="1"/>
          </p:cNvSpPr>
          <p:nvPr>
            <p:ph idx="1"/>
          </p:nvPr>
        </p:nvSpPr>
        <p:spPr>
          <a:xfrm>
            <a:off x="818712" y="2222287"/>
            <a:ext cx="10554574" cy="4188525"/>
          </a:xfrm>
        </p:spPr>
        <p:txBody>
          <a:bodyPr>
            <a:normAutofit/>
          </a:bodyPr>
          <a:lstStyle/>
          <a:p>
            <a:r>
              <a:rPr kumimoji="1" lang="ja-JP" altLang="en-US" sz="2600" b="1" u="sng" dirty="0"/>
              <a:t>在庫を</a:t>
            </a:r>
            <a:r>
              <a:rPr kumimoji="1" lang="en-US" altLang="ja-JP" sz="2600" b="1" u="sng" dirty="0"/>
              <a:t>CSV</a:t>
            </a:r>
            <a:r>
              <a:rPr kumimoji="1" lang="ja-JP" altLang="en-US" sz="2600" b="1" u="sng" dirty="0"/>
              <a:t>ファイルで</a:t>
            </a:r>
            <a:r>
              <a:rPr lang="ja-JP" altLang="en-US" sz="2600" b="1" u="sng" dirty="0"/>
              <a:t>管理</a:t>
            </a:r>
            <a:br>
              <a:rPr lang="en-US" altLang="ja-JP" sz="2600" dirty="0"/>
            </a:br>
            <a:r>
              <a:rPr lang="ja-JP" altLang="en-US" sz="2600" dirty="0"/>
              <a:t>→データベースを</a:t>
            </a:r>
            <a:r>
              <a:rPr kumimoji="1" lang="ja-JP" altLang="en-US" sz="2600" dirty="0"/>
              <a:t>不要にした</a:t>
            </a:r>
            <a:endParaRPr kumimoji="1" lang="en-US" altLang="ja-JP" sz="2600" dirty="0"/>
          </a:p>
          <a:p>
            <a:endParaRPr kumimoji="1" lang="en-US" altLang="ja-JP" sz="2600" dirty="0"/>
          </a:p>
          <a:p>
            <a:r>
              <a:rPr lang="ja-JP" altLang="en-US" sz="2600" b="1" u="sng" dirty="0"/>
              <a:t>作業完了後に作業選択画面に戻す</a:t>
            </a:r>
            <a:br>
              <a:rPr lang="en-US" altLang="ja-JP" sz="2600" dirty="0"/>
            </a:br>
            <a:r>
              <a:rPr lang="ja-JP" altLang="en-US" sz="2600" dirty="0"/>
              <a:t>→何度も実行する手間を無くした</a:t>
            </a:r>
            <a:endParaRPr lang="en-US" altLang="ja-JP" sz="2600" dirty="0"/>
          </a:p>
          <a:p>
            <a:endParaRPr kumimoji="1" lang="en-US" altLang="ja-JP" sz="2600" dirty="0"/>
          </a:p>
          <a:p>
            <a:r>
              <a:rPr kumimoji="1" lang="ja-JP" altLang="en-US" sz="2600" b="1" u="sng" dirty="0"/>
              <a:t>初期画面に「在庫不足リスト」を表示</a:t>
            </a:r>
            <a:br>
              <a:rPr lang="en-US" altLang="ja-JP" sz="2600" dirty="0"/>
            </a:br>
            <a:r>
              <a:rPr lang="ja-JP" altLang="en-US" sz="2600" dirty="0"/>
              <a:t>→</a:t>
            </a:r>
            <a:r>
              <a:rPr kumimoji="1" lang="ja-JP" altLang="en-US" sz="2600" dirty="0"/>
              <a:t>在庫管理作業を行いやすくした</a:t>
            </a:r>
            <a:endParaRPr kumimoji="1" lang="en-US" altLang="ja-JP" sz="2600" dirty="0"/>
          </a:p>
        </p:txBody>
      </p:sp>
    </p:spTree>
    <p:extLst>
      <p:ext uri="{BB962C8B-B14F-4D97-AF65-F5344CB8AC3E}">
        <p14:creationId xmlns:p14="http://schemas.microsoft.com/office/powerpoint/2010/main" val="1691996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690239-2EDF-4780-BDD6-97D3DC49FF3F}"/>
              </a:ext>
            </a:extLst>
          </p:cNvPr>
          <p:cNvSpPr>
            <a:spLocks noGrp="1"/>
          </p:cNvSpPr>
          <p:nvPr>
            <p:ph type="title"/>
          </p:nvPr>
        </p:nvSpPr>
        <p:spPr/>
        <p:txBody>
          <a:bodyPr/>
          <a:lstStyle/>
          <a:p>
            <a:r>
              <a:rPr lang="ja-JP" altLang="en-US" dirty="0"/>
              <a:t>コード記述</a:t>
            </a:r>
            <a:r>
              <a:rPr kumimoji="1" lang="ja-JP" altLang="en-US" dirty="0"/>
              <a:t>の工夫点</a:t>
            </a:r>
          </a:p>
        </p:txBody>
      </p:sp>
      <p:sp>
        <p:nvSpPr>
          <p:cNvPr id="3" name="コンテンツ プレースホルダー 2">
            <a:extLst>
              <a:ext uri="{FF2B5EF4-FFF2-40B4-BE49-F238E27FC236}">
                <a16:creationId xmlns:a16="http://schemas.microsoft.com/office/drawing/2014/main" id="{70A8C040-E351-47F2-9DB5-2C67695D693B}"/>
              </a:ext>
            </a:extLst>
          </p:cNvPr>
          <p:cNvSpPr>
            <a:spLocks noGrp="1"/>
          </p:cNvSpPr>
          <p:nvPr>
            <p:ph idx="1"/>
          </p:nvPr>
        </p:nvSpPr>
        <p:spPr>
          <a:xfrm>
            <a:off x="818712" y="2179320"/>
            <a:ext cx="10554574" cy="4571999"/>
          </a:xfrm>
        </p:spPr>
        <p:txBody>
          <a:bodyPr>
            <a:normAutofit/>
          </a:bodyPr>
          <a:lstStyle/>
          <a:p>
            <a:r>
              <a:rPr kumimoji="1" lang="ja-JP" altLang="en-US" sz="2600" b="1" u="sng" dirty="0"/>
              <a:t>カプセル化の実装</a:t>
            </a:r>
            <a:br>
              <a:rPr kumimoji="1" lang="en-US" altLang="ja-JP" sz="2600" dirty="0"/>
            </a:br>
            <a:r>
              <a:rPr kumimoji="1" lang="ja-JP" altLang="en-US" sz="2600" dirty="0"/>
              <a:t>→商品情報を扱う</a:t>
            </a:r>
            <a:r>
              <a:rPr lang="ja-JP" altLang="en-US" sz="2600" dirty="0"/>
              <a:t>フィールドの</a:t>
            </a:r>
            <a:r>
              <a:rPr kumimoji="1" lang="ja-JP" altLang="en-US" sz="2600" dirty="0"/>
              <a:t>アクセス修飾子を</a:t>
            </a:r>
            <a:r>
              <a:rPr kumimoji="1" lang="en-US" altLang="ja-JP" sz="2600" dirty="0"/>
              <a:t>Private</a:t>
            </a:r>
            <a:r>
              <a:rPr kumimoji="1" lang="ja-JP" altLang="en-US" sz="2600" dirty="0"/>
              <a:t>に設定し、</a:t>
            </a:r>
            <a:r>
              <a:rPr kumimoji="1" lang="en-US" altLang="ja-JP" sz="2600" dirty="0"/>
              <a:t>getter/setter</a:t>
            </a:r>
            <a:r>
              <a:rPr kumimoji="1" lang="ja-JP" altLang="en-US" sz="2600" dirty="0"/>
              <a:t>メソッドでアクセスできるようにした</a:t>
            </a:r>
            <a:endParaRPr kumimoji="1" lang="en-US" altLang="ja-JP" sz="2600" dirty="0"/>
          </a:p>
          <a:p>
            <a:r>
              <a:rPr lang="ja-JP" altLang="en-US" sz="2600" b="1" u="sng" dirty="0"/>
              <a:t>パッケージの活用</a:t>
            </a:r>
            <a:br>
              <a:rPr lang="en-US" altLang="ja-JP" sz="2600" dirty="0"/>
            </a:br>
            <a:r>
              <a:rPr lang="ja-JP" altLang="en-US" sz="2600" dirty="0"/>
              <a:t>→</a:t>
            </a:r>
            <a:r>
              <a:rPr lang="en-US" altLang="ja-JP" sz="2600" dirty="0" err="1"/>
              <a:t>j</a:t>
            </a:r>
            <a:r>
              <a:rPr kumimoji="1" lang="en-US" altLang="ja-JP" sz="2600" dirty="0" err="1"/>
              <a:t>ava.util.ArrayList</a:t>
            </a:r>
            <a:r>
              <a:rPr kumimoji="1" lang="ja-JP" altLang="en-US" sz="2600" dirty="0"/>
              <a:t>や</a:t>
            </a:r>
            <a:r>
              <a:rPr lang="en-US" altLang="ja-JP" sz="2600" dirty="0" err="1"/>
              <a:t>j</a:t>
            </a:r>
            <a:r>
              <a:rPr kumimoji="1" lang="en-US" altLang="ja-JP" sz="2600" dirty="0" err="1"/>
              <a:t>ava.io.Bufferedreader</a:t>
            </a:r>
            <a:r>
              <a:rPr kumimoji="1" lang="ja-JP" altLang="en-US" sz="2600" dirty="0"/>
              <a:t>などのパッケージを活用してプログラムを作成した</a:t>
            </a:r>
            <a:endParaRPr kumimoji="1" lang="en-US" altLang="ja-JP" sz="2600" dirty="0"/>
          </a:p>
          <a:p>
            <a:r>
              <a:rPr lang="ja-JP" altLang="en-US" sz="2600" b="1" u="sng" dirty="0"/>
              <a:t>例外処理の実装</a:t>
            </a:r>
            <a:br>
              <a:rPr lang="en-US" altLang="ja-JP" sz="2600" dirty="0"/>
            </a:br>
            <a:r>
              <a:rPr lang="ja-JP" altLang="en-US" sz="2600" dirty="0"/>
              <a:t>→エラー処理のための</a:t>
            </a:r>
            <a:r>
              <a:rPr lang="en-US" altLang="ja-JP" sz="2600" dirty="0"/>
              <a:t>try-catch</a:t>
            </a:r>
            <a:r>
              <a:rPr lang="ja-JP" altLang="en-US" sz="2600" dirty="0"/>
              <a:t>文を活用し、例外に対応できるようにした</a:t>
            </a:r>
            <a:endParaRPr kumimoji="1" lang="en-US" altLang="ja-JP" sz="2600" dirty="0"/>
          </a:p>
        </p:txBody>
      </p:sp>
    </p:spTree>
    <p:extLst>
      <p:ext uri="{BB962C8B-B14F-4D97-AF65-F5344CB8AC3E}">
        <p14:creationId xmlns:p14="http://schemas.microsoft.com/office/powerpoint/2010/main" val="468351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D9F301-7F56-4F4D-A892-7286C31BB3F5}"/>
              </a:ext>
            </a:extLst>
          </p:cNvPr>
          <p:cNvSpPr>
            <a:spLocks noGrp="1"/>
          </p:cNvSpPr>
          <p:nvPr>
            <p:ph type="title"/>
          </p:nvPr>
        </p:nvSpPr>
        <p:spPr/>
        <p:txBody>
          <a:bodyPr/>
          <a:lstStyle/>
          <a:p>
            <a:r>
              <a:rPr kumimoji="1" lang="ja-JP" altLang="en-US" dirty="0"/>
              <a:t>改善点</a:t>
            </a:r>
          </a:p>
        </p:txBody>
      </p:sp>
      <p:sp>
        <p:nvSpPr>
          <p:cNvPr id="3" name="コンテンツ プレースホルダー 2">
            <a:extLst>
              <a:ext uri="{FF2B5EF4-FFF2-40B4-BE49-F238E27FC236}">
                <a16:creationId xmlns:a16="http://schemas.microsoft.com/office/drawing/2014/main" id="{C742B204-53C2-432B-9FB1-19F7634AE258}"/>
              </a:ext>
            </a:extLst>
          </p:cNvPr>
          <p:cNvSpPr>
            <a:spLocks noGrp="1"/>
          </p:cNvSpPr>
          <p:nvPr>
            <p:ph idx="1"/>
          </p:nvPr>
        </p:nvSpPr>
        <p:spPr/>
        <p:txBody>
          <a:bodyPr>
            <a:noAutofit/>
          </a:bodyPr>
          <a:lstStyle/>
          <a:p>
            <a:r>
              <a:rPr kumimoji="1" lang="ja-JP" altLang="en-US" sz="2800" dirty="0"/>
              <a:t>いくつかのクラス内で</a:t>
            </a:r>
            <a:r>
              <a:rPr kumimoji="1" lang="en-US" altLang="ja-JP" sz="2800" dirty="0"/>
              <a:t>Scanner</a:t>
            </a:r>
            <a:r>
              <a:rPr kumimoji="1" lang="ja-JP" altLang="en-US" sz="2800" dirty="0"/>
              <a:t>がそれぞれ</a:t>
            </a:r>
            <a:r>
              <a:rPr kumimoji="1" lang="en-US" altLang="ja-JP" sz="2800" dirty="0"/>
              <a:t>close()</a:t>
            </a:r>
            <a:r>
              <a:rPr kumimoji="1" lang="ja-JP" altLang="en-US" sz="2800" dirty="0"/>
              <a:t>できて</a:t>
            </a:r>
            <a:r>
              <a:rPr lang="ja-JP" altLang="en-US" sz="2800" dirty="0"/>
              <a:t>いない問題の修正</a:t>
            </a:r>
            <a:endParaRPr kumimoji="1" lang="en-US" altLang="ja-JP" sz="2800" dirty="0"/>
          </a:p>
          <a:p>
            <a:endParaRPr kumimoji="1" lang="en-US" altLang="ja-JP" sz="2800" dirty="0"/>
          </a:p>
          <a:p>
            <a:r>
              <a:rPr lang="en-US" altLang="ja-JP" sz="2800" dirty="0"/>
              <a:t>GUI</a:t>
            </a:r>
            <a:r>
              <a:rPr lang="ja-JP" altLang="en-US" sz="2800" dirty="0"/>
              <a:t>化・</a:t>
            </a:r>
            <a:r>
              <a:rPr lang="en-US" altLang="ja-JP" sz="2800" dirty="0"/>
              <a:t>Web</a:t>
            </a:r>
            <a:r>
              <a:rPr lang="ja-JP" altLang="en-US" sz="2800" dirty="0"/>
              <a:t>アプリ化によって誰でも活用できるように</a:t>
            </a:r>
            <a:endParaRPr lang="en-US" altLang="ja-JP" sz="2800" dirty="0"/>
          </a:p>
          <a:p>
            <a:endParaRPr kumimoji="1" lang="en-US" altLang="ja-JP" sz="2800" dirty="0"/>
          </a:p>
          <a:p>
            <a:r>
              <a:rPr lang="ja-JP" altLang="en-US" sz="2800" dirty="0"/>
              <a:t>検索機能の追加</a:t>
            </a:r>
            <a:endParaRPr kumimoji="1" lang="ja-JP" altLang="en-US" sz="2800" dirty="0"/>
          </a:p>
        </p:txBody>
      </p:sp>
    </p:spTree>
    <p:extLst>
      <p:ext uri="{BB962C8B-B14F-4D97-AF65-F5344CB8AC3E}">
        <p14:creationId xmlns:p14="http://schemas.microsoft.com/office/powerpoint/2010/main" val="2786097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076449-5E14-4658-92C2-57B454F03489}"/>
              </a:ext>
            </a:extLst>
          </p:cNvPr>
          <p:cNvSpPr>
            <a:spLocks noGrp="1"/>
          </p:cNvSpPr>
          <p:nvPr>
            <p:ph type="title"/>
          </p:nvPr>
        </p:nvSpPr>
        <p:spPr/>
        <p:txBody>
          <a:bodyPr/>
          <a:lstStyle/>
          <a:p>
            <a:r>
              <a:rPr kumimoji="1" lang="ja-JP" altLang="en-US" dirty="0"/>
              <a:t>まとめ</a:t>
            </a:r>
          </a:p>
        </p:txBody>
      </p:sp>
      <p:sp>
        <p:nvSpPr>
          <p:cNvPr id="3" name="コンテンツ プレースホルダー 2">
            <a:extLst>
              <a:ext uri="{FF2B5EF4-FFF2-40B4-BE49-F238E27FC236}">
                <a16:creationId xmlns:a16="http://schemas.microsoft.com/office/drawing/2014/main" id="{00BD0C15-0ACC-4ED9-8B16-6CD826E37FE2}"/>
              </a:ext>
            </a:extLst>
          </p:cNvPr>
          <p:cNvSpPr>
            <a:spLocks noGrp="1"/>
          </p:cNvSpPr>
          <p:nvPr>
            <p:ph idx="1"/>
          </p:nvPr>
        </p:nvSpPr>
        <p:spPr>
          <a:xfrm>
            <a:off x="818712" y="1996441"/>
            <a:ext cx="10554574" cy="4414372"/>
          </a:xfrm>
        </p:spPr>
        <p:txBody>
          <a:bodyPr>
            <a:noAutofit/>
          </a:bodyPr>
          <a:lstStyle/>
          <a:p>
            <a:r>
              <a:rPr kumimoji="1" lang="ja-JP" altLang="en-US" sz="2600" dirty="0"/>
              <a:t>オブジェクト指向プログラミングの難しさ、便利さの一端に触れられた気がした</a:t>
            </a:r>
            <a:endParaRPr kumimoji="1" lang="en-US" altLang="ja-JP" sz="2600" dirty="0"/>
          </a:p>
          <a:p>
            <a:r>
              <a:rPr lang="ja-JP" altLang="en-US" sz="2600" dirty="0"/>
              <a:t>データを扱うなら</a:t>
            </a:r>
            <a:r>
              <a:rPr lang="en-US" altLang="ja-JP" sz="2600" dirty="0"/>
              <a:t>PHP</a:t>
            </a:r>
            <a:r>
              <a:rPr lang="ja-JP" altLang="en-US" sz="2600" dirty="0"/>
              <a:t>の方が向いていると感じ、言語ごとの適正があることを実感した</a:t>
            </a:r>
            <a:endParaRPr lang="en-US" altLang="ja-JP" sz="2600" dirty="0"/>
          </a:p>
          <a:p>
            <a:r>
              <a:rPr lang="en-US" altLang="ja-JP" sz="2600" dirty="0"/>
              <a:t>Git</a:t>
            </a:r>
            <a:r>
              <a:rPr lang="ja-JP" altLang="en-US" sz="2600" dirty="0"/>
              <a:t>を自学し、その日の進捗を</a:t>
            </a:r>
            <a:r>
              <a:rPr lang="en-US" altLang="ja-JP" sz="2600" dirty="0"/>
              <a:t>GitHub</a:t>
            </a:r>
            <a:r>
              <a:rPr lang="ja-JP" altLang="en-US" sz="2600" dirty="0"/>
              <a:t>にコミット＆プッシュするのを試していた</a:t>
            </a:r>
            <a:endParaRPr lang="en-US" altLang="ja-JP" sz="2600" dirty="0"/>
          </a:p>
          <a:p>
            <a:r>
              <a:rPr kumimoji="1" lang="ja-JP" altLang="en-US" sz="2600" dirty="0"/>
              <a:t>今後はもっと規模を広げたプログラミングにも挑戦してみたい</a:t>
            </a:r>
          </a:p>
        </p:txBody>
      </p:sp>
    </p:spTree>
    <p:extLst>
      <p:ext uri="{BB962C8B-B14F-4D97-AF65-F5344CB8AC3E}">
        <p14:creationId xmlns:p14="http://schemas.microsoft.com/office/powerpoint/2010/main" val="26023979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クォータブル">
  <a:themeElements>
    <a:clrScheme name="クォータブル">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クォータブル">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クォータブル">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TM03457503[[fn=クォータブル]]</Template>
  <TotalTime>390</TotalTime>
  <Words>1060</Words>
  <Application>Microsoft Office PowerPoint</Application>
  <PresentationFormat>ワイド画面</PresentationFormat>
  <Paragraphs>109</Paragraphs>
  <Slides>12</Slides>
  <Notes>10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12</vt:i4>
      </vt:variant>
    </vt:vector>
  </HeadingPairs>
  <TitlesOfParts>
    <vt:vector size="19" baseType="lpstr">
      <vt:lpstr>ＭＳ ゴシック</vt:lpstr>
      <vt:lpstr>游ゴシック</vt:lpstr>
      <vt:lpstr>Arial</vt:lpstr>
      <vt:lpstr>Century Gothic</vt:lpstr>
      <vt:lpstr>Wingdings</vt:lpstr>
      <vt:lpstr>Wingdings 2</vt:lpstr>
      <vt:lpstr>クォータブル</vt:lpstr>
      <vt:lpstr>総合制作課題発表</vt:lpstr>
      <vt:lpstr>目次</vt:lpstr>
      <vt:lpstr>何を作ったのか</vt:lpstr>
      <vt:lpstr>実践</vt:lpstr>
      <vt:lpstr>なぜ作ったのか</vt:lpstr>
      <vt:lpstr>機能紹介Ⅰ</vt:lpstr>
      <vt:lpstr>機能紹介Ⅱ</vt:lpstr>
      <vt:lpstr>機能紹介Ⅲ</vt:lpstr>
      <vt:lpstr>システム作成の工夫点</vt:lpstr>
      <vt:lpstr>コード記述の工夫点</vt:lpstr>
      <vt:lpstr>改善点</vt:lpstr>
      <vt:lpstr>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User</dc:creator>
  <cp:lastModifiedBy>User</cp:lastModifiedBy>
  <cp:revision>23</cp:revision>
  <dcterms:created xsi:type="dcterms:W3CDTF">2026-04-22T04:51:35Z</dcterms:created>
  <dcterms:modified xsi:type="dcterms:W3CDTF">2026-04-23T04:42:02Z</dcterms:modified>
</cp:coreProperties>
</file>